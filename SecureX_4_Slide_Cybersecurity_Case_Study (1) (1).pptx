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17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21D4FD"/>
                </a:solidFill>
              </a:defRPr>
            </a:pPr>
            <a:r>
              <a:t>SECUREX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F4F7FB"/>
                </a:solidFill>
              </a:defRPr>
            </a:pPr>
            <a:r>
              <a:t>College Phishing Detection &amp; Awareness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246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9E58C"/>
                </a:solidFill>
              </a:defRPr>
            </a:pPr>
            <a:r>
              <a:t>Detect. Protect. Stay Secure.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5074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A8B3C7"/>
                </a:solidFill>
              </a:defRPr>
            </a:pPr>
            <a:r>
              <a:t>Cybersecurity Case Study &amp;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4F7FB"/>
                </a:solidFill>
              </a:defRPr>
            </a:pPr>
            <a:r>
              <a:t>The Problem: Phishing in College Environments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8B3C7"/>
                </a:solidFill>
              </a:defRPr>
            </a:pPr>
            <a:r>
              <a:t>Phishing uses social engineering to trick users into clicking malicious links or revealing sensitive information.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0292" cy="114300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3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01  Impersonation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56231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Attackers make messages appear to come from trusted college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530352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0292" cy="114300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74320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02  Urgency &amp;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36392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Messages may threaten account suspension or demand immediate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0352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0292" cy="114300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02336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03  Credential Theft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416552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Fake verification pages can capture usernames and passwords.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530352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50292" cy="11430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39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04  Human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856231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Phishing exploits user decisions, so technical controls alone are not enough.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606040"/>
            <a:ext cx="530352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06040"/>
            <a:ext cx="50292" cy="114300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05  Account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36392"/>
            <a:ext cx="4983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A stolen password can enable unauthorized access to college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977639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4F7FB"/>
                </a:solidFill>
              </a:defRPr>
            </a:pPr>
            <a:r>
              <a:t>TYPICAL ATTACK 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34840"/>
            <a:ext cx="914400" cy="64008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4617720"/>
            <a:ext cx="859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4F7FB"/>
                </a:solidFill>
              </a:defRPr>
            </a:pPr>
            <a:r>
              <a:t>Fake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57200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69479" y="4434840"/>
            <a:ext cx="914400" cy="64008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4617720"/>
            <a:ext cx="859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4F7FB"/>
                </a:solidFill>
              </a:defRPr>
            </a:pPr>
            <a:r>
              <a:t>Click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457200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434840"/>
            <a:ext cx="914400" cy="64008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1" y="4617720"/>
            <a:ext cx="859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4F7FB"/>
                </a:solidFill>
              </a:defRPr>
            </a:pPr>
            <a:r>
              <a:t>Fake Page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57200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4434840"/>
            <a:ext cx="914400" cy="64008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4617720"/>
            <a:ext cx="859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4F7FB"/>
                </a:solidFill>
              </a:defRPr>
            </a:pPr>
            <a:r>
              <a:t>Credentials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4572000"/>
            <a:ext cx="16459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24159" y="4434840"/>
            <a:ext cx="914400" cy="64008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51591" y="4617720"/>
            <a:ext cx="85953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4F7FB"/>
                </a:solidFill>
              </a:defRPr>
            </a:pPr>
            <a:r>
              <a:t>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4F7FB"/>
                </a:solidFill>
              </a:defRPr>
            </a:pPr>
            <a:r>
              <a:t>Problem: How can a college help students and staff identify suspicious emails before they become victims?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30936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8B3C7"/>
                </a:solidFill>
              </a:defRPr>
            </a:pPr>
            <a:r>
              <a:t>Research basis: NIST/CISA guidance emphasizes awareness, reporting, email controls, MFA and layered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4F7FB"/>
                </a:solidFill>
              </a:defRPr>
            </a:pPr>
            <a:r>
              <a:t>Our Solution: SECUREX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8B3C7"/>
                </a:solidFill>
              </a:defRPr>
            </a:pPr>
            <a:r>
              <a:t>Detect suspicious indicators, warn the user, and reinforce safer security behavior.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577"/>
                </a:solidFill>
              </a:defRPr>
            </a:pPr>
            <a: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Suspicious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78024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1D4FD"/>
                </a:solidFill>
              </a:defRPr>
            </a:pPr>
            <a: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Submit to SecureX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79976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1D4FD"/>
                </a:solidFill>
              </a:defRPr>
            </a:pPr>
            <a:r>
              <a:t>ANALYZE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Analyze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577"/>
                </a:solidFill>
              </a:defRPr>
            </a:pPr>
            <a: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Risk 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0728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5577"/>
                </a:solidFill>
              </a:defRPr>
            </a:pPr>
            <a: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Phishing Detected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0928" y="2011680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8B3C7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645920"/>
            <a:ext cx="1600200" cy="11430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1828800"/>
            <a:ext cx="14447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9E58C"/>
                </a:solidFill>
              </a:defRPr>
            </a:pPr>
            <a:r>
              <a:t>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2148840"/>
            <a:ext cx="144475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F4F7FB"/>
                </a:solidFill>
              </a:defRPr>
            </a:pPr>
            <a:r>
              <a:t>Awareness + Protection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246120"/>
            <a:ext cx="3246120" cy="1874519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246120"/>
            <a:ext cx="50292" cy="1874519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38327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776472"/>
            <a:ext cx="29260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• Sender identity</a:t>
            </a:r>
            <a:br/>
            <a:r>
              <a:t>• Suspicious links</a:t>
            </a:r>
            <a:br/>
            <a:r>
              <a:t>• Urgent language</a:t>
            </a:r>
            <a:br/>
            <a:r>
              <a:t>• Sensitive-data requests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0560" y="3246120"/>
            <a:ext cx="3246120" cy="1874519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0560" y="3246120"/>
            <a:ext cx="50292" cy="1874519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338327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Warning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776472"/>
            <a:ext cx="29260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PHISHING EMAIL DETECTED</a:t>
            </a:r>
            <a:br/>
            <a:br/>
            <a:r>
              <a:t>Risk Level: HIGH</a:t>
            </a:r>
            <a:br/>
            <a:br/>
            <a:r>
              <a:t>Clear reasons are shown.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3246120"/>
            <a:ext cx="3246120" cy="1874519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3246120"/>
            <a:ext cx="50292" cy="1874519"/>
          </a:xfrm>
          <a:prstGeom prst="rect">
            <a:avLst/>
          </a:prstGeom>
          <a:solidFill>
            <a:srgbClr val="39E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38327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Protection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776472"/>
            <a:ext cx="2926079" cy="1234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Report Phishing</a:t>
            </a:r>
            <a:br/>
            <a:r>
              <a:t>Block Sender</a:t>
            </a:r>
            <a:br/>
            <a:r>
              <a:t>Delete Email</a:t>
            </a:r>
            <a:br/>
            <a:r>
              <a:t>View Safety Tips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A8B3C7"/>
                </a:solidFill>
              </a:defRPr>
            </a:pPr>
            <a:r>
              <a:t>Educational prototype using mock data only — no real credentials, authentication, or attack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4F7FB"/>
                </a:solidFill>
              </a:defRPr>
            </a:pPr>
            <a:r>
              <a:t>Prototype Developed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8B3C7"/>
                </a:solidFill>
              </a:defRPr>
            </a:pPr>
            <a:r>
              <a:t>Responsive cybersecurity dashboard with fictional data and safe interactions.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7406640" cy="5074920"/>
          </a:xfrm>
          <a:prstGeom prst="roundRect">
            <a:avLst/>
          </a:prstGeom>
          <a:solidFill>
            <a:srgbClr val="0B1324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1D4FD"/>
                </a:solidFill>
              </a:defRPr>
            </a:pPr>
            <a:r>
              <a:t>SECUREX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087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39E58C"/>
                </a:solidFill>
              </a:defRPr>
            </a:pPr>
            <a:r>
              <a:t>● PROTECTED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508760" cy="96012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50292" cy="96012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125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011680"/>
            <a:ext cx="1508760" cy="96012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1" y="2011680"/>
            <a:ext cx="50292" cy="96012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48840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542032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9663" y="2011680"/>
            <a:ext cx="1508760" cy="96012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663" y="2011680"/>
            <a:ext cx="50292" cy="960120"/>
          </a:xfrm>
          <a:prstGeom prst="rect">
            <a:avLst/>
          </a:prstGeom>
          <a:solidFill>
            <a:srgbClr val="39E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148840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542032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8736" y="2011680"/>
            <a:ext cx="1508760" cy="96012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8736" y="2011680"/>
            <a:ext cx="50292" cy="960120"/>
          </a:xfrm>
          <a:prstGeom prst="rect">
            <a:avLst/>
          </a:prstGeom>
          <a:solidFill>
            <a:srgbClr val="39E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2148840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MFA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2542032"/>
            <a:ext cx="1188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46120"/>
            <a:ext cx="3429000" cy="25146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246120"/>
            <a:ext cx="50292" cy="251460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383279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Phishing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776472"/>
            <a:ext cx="31089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URGENT: College Account Verification Required</a:t>
            </a:r>
            <a:br/>
            <a:br/>
            <a:r>
              <a:t>⚠ Suspicious sender</a:t>
            </a:r>
            <a:br/>
            <a:r>
              <a:t>⚠ Urgent language</a:t>
            </a:r>
            <a:br/>
            <a:r>
              <a:t>⚠ Suspicious link</a:t>
            </a:r>
            <a:br/>
            <a:br/>
            <a:r>
              <a:t>RISK: HIGH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246120"/>
            <a:ext cx="3246120" cy="251460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246120"/>
            <a:ext cx="50292" cy="2514600"/>
          </a:xfrm>
          <a:prstGeom prst="rect">
            <a:avLst/>
          </a:prstGeom>
          <a:solidFill>
            <a:srgbClr val="39E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383279"/>
            <a:ext cx="2926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Protection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76472"/>
            <a:ext cx="2926079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[ Report Phishing ]</a:t>
            </a:r>
            <a:br/>
            <a:r>
              <a:t>[ Block Sender ]</a:t>
            </a:r>
            <a:br/>
            <a:r>
              <a:t>[ Delete Email ]</a:t>
            </a:r>
            <a:br/>
            <a:r>
              <a:t>[ Safety Tips ]</a:t>
            </a:r>
            <a:br/>
            <a:br/>
            <a:r>
              <a:t>Demo-only workflow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79" y="1417320"/>
            <a:ext cx="3383280" cy="123444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1417320"/>
            <a:ext cx="50292" cy="1234440"/>
          </a:xfrm>
          <a:prstGeom prst="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155448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Responsive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1947672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Desktop • Tablet • Mobile</a:t>
            </a:r>
            <a:br/>
            <a:r>
              <a:t>Modern dark cybersecurity design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2880360"/>
            <a:ext cx="3383280" cy="123444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9" y="2880360"/>
            <a:ext cx="50292" cy="1234440"/>
          </a:xfrm>
          <a:prstGeom prst="rect">
            <a:avLst/>
          </a:prstGeom>
          <a:solidFill>
            <a:srgbClr val="39E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59" y="30175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Awareness Module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59" y="3410712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Phishing signs, MFA, passwords,</a:t>
            </a:r>
            <a:br/>
            <a:r>
              <a:t>and safe reporting guidance.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4343400"/>
            <a:ext cx="3383280" cy="1234440"/>
          </a:xfrm>
          <a:prstGeom prst="roundRect">
            <a:avLst/>
          </a:prstGeom>
          <a:solidFill>
            <a:srgbClr val="121B30"/>
          </a:solidFill>
          <a:ln>
            <a:solidFill>
              <a:srgbClr val="2A3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4343400"/>
            <a:ext cx="50292" cy="1234440"/>
          </a:xfrm>
          <a:prstGeom prst="rect">
            <a:avLst/>
          </a:prstGeom>
          <a:solidFill>
            <a:srgbClr val="FF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66759" y="44805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4F7FB"/>
                </a:solidFill>
              </a:defRPr>
            </a:pPr>
            <a:r>
              <a:t>Safe by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59" y="4873752"/>
            <a:ext cx="3063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A8B3C7"/>
                </a:solidFill>
              </a:defRPr>
            </a:pPr>
            <a:r>
              <a:t>Mock/sample data only.</a:t>
            </a:r>
            <a:br/>
            <a:r>
              <a:t>No credential collection.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8B3C7"/>
                </a:solidFill>
              </a:defRPr>
            </a:pPr>
            <a:r>
              <a:t>Prototype demonstrates defensive cybersecurity concepts without real phishing or credential harvesting.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